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1" d="100"/>
          <a:sy n="141" d="100"/>
        </p:scale>
        <p:origin x="92" y="2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31725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F7630C"/>
          </a:solidFill>
          <a:ln/>
        </p:spPr>
        <p:txBody>
          <a:bodyPr/>
          <a:lstStyle/>
          <a:p>
            <a:endParaRPr lang="en-IE"/>
          </a:p>
        </p:txBody>
      </p:sp>
      <p:sp>
        <p:nvSpPr>
          <p:cNvPr id="3" name="Shape 1"/>
          <p:cNvSpPr/>
          <p:nvPr/>
        </p:nvSpPr>
        <p:spPr>
          <a:xfrm>
            <a:off x="0" y="0"/>
            <a:ext cx="45720" cy="5143500"/>
          </a:xfrm>
          <a:prstGeom prst="rect">
            <a:avLst/>
          </a:prstGeom>
          <a:solidFill>
            <a:srgbClr val="0078D4"/>
          </a:solidFill>
          <a:ln/>
        </p:spPr>
        <p:txBody>
          <a:bodyPr/>
          <a:lstStyle/>
          <a:p>
            <a:endParaRPr lang="en-IE"/>
          </a:p>
        </p:txBody>
      </p:sp>
      <p:pic>
        <p:nvPicPr>
          <p:cNvPr id="4" name="Image 0" descr="input/LOGO WITHOUT BACKGROUND (2).png"/>
          <p:cNvPicPr>
            <a:picLocks noChangeAspect="1"/>
          </p:cNvPicPr>
          <p:nvPr/>
        </p:nvPicPr>
        <p:blipFill>
          <a:blip r:embed="rId3"/>
          <a:srcRect/>
          <a:stretch/>
        </p:blipFill>
        <p:spPr>
          <a:xfrm>
            <a:off x="2971800" y="411480"/>
            <a:ext cx="3200400" cy="2377440"/>
          </a:xfrm>
          <a:prstGeom prst="rect">
            <a:avLst/>
          </a:prstGeom>
        </p:spPr>
      </p:pic>
      <p:sp>
        <p:nvSpPr>
          <p:cNvPr id="5" name="Text 2"/>
          <p:cNvSpPr/>
          <p:nvPr/>
        </p:nvSpPr>
        <p:spPr>
          <a:xfrm>
            <a:off x="731520" y="2926080"/>
            <a:ext cx="7680960" cy="594360"/>
          </a:xfrm>
          <a:prstGeom prst="rect">
            <a:avLst/>
          </a:prstGeom>
          <a:noFill/>
          <a:ln/>
        </p:spPr>
        <p:txBody>
          <a:bodyPr wrap="square" lIns="0" tIns="0" rIns="0" bIns="0" rtlCol="0" anchor="ctr"/>
          <a:lstStyle/>
          <a:p>
            <a:pPr marL="0" indent="0" algn="ctr">
              <a:buNone/>
            </a:pPr>
            <a:r>
              <a:rPr lang="en-US" sz="2800" b="1" kern="0" spc="500" dirty="0">
                <a:solidFill>
                  <a:srgbClr val="1A3356"/>
                </a:solidFill>
                <a:latin typeface="Trebuchet MS" pitchFamily="34" charset="0"/>
                <a:ea typeface="Trebuchet MS" pitchFamily="34" charset="-122"/>
                <a:cs typeface="Trebuchet MS" pitchFamily="34" charset="-120"/>
              </a:rPr>
              <a:t>USE CASE PRESENTATION</a:t>
            </a:r>
            <a:endParaRPr lang="en-US" sz="2800" dirty="0"/>
          </a:p>
        </p:txBody>
      </p:sp>
      <p:sp>
        <p:nvSpPr>
          <p:cNvPr id="6" name="Shape 3"/>
          <p:cNvSpPr/>
          <p:nvPr/>
        </p:nvSpPr>
        <p:spPr>
          <a:xfrm>
            <a:off x="3200400" y="3611880"/>
            <a:ext cx="2743200" cy="0"/>
          </a:xfrm>
          <a:prstGeom prst="line">
            <a:avLst/>
          </a:prstGeom>
          <a:noFill/>
          <a:ln w="25400">
            <a:solidFill>
              <a:srgbClr val="F7630C"/>
            </a:solidFill>
            <a:prstDash val="solid"/>
          </a:ln>
        </p:spPr>
        <p:txBody>
          <a:bodyPr/>
          <a:lstStyle/>
          <a:p>
            <a:endParaRPr lang="en-IE"/>
          </a:p>
        </p:txBody>
      </p:sp>
      <p:sp>
        <p:nvSpPr>
          <p:cNvPr id="7" name="Text 4"/>
          <p:cNvSpPr/>
          <p:nvPr/>
        </p:nvSpPr>
        <p:spPr>
          <a:xfrm>
            <a:off x="731520" y="3794760"/>
            <a:ext cx="7680960" cy="411480"/>
          </a:xfrm>
          <a:prstGeom prst="rect">
            <a:avLst/>
          </a:prstGeom>
          <a:noFill/>
          <a:ln/>
        </p:spPr>
        <p:txBody>
          <a:bodyPr wrap="square" lIns="0" tIns="0" rIns="0" bIns="0" rtlCol="0" anchor="ctr"/>
          <a:lstStyle/>
          <a:p>
            <a:pPr marL="0" indent="0" algn="ctr">
              <a:buNone/>
            </a:pPr>
            <a:r>
              <a:rPr lang="en-US" sz="1400" i="1" dirty="0">
                <a:solidFill>
                  <a:srgbClr val="8C8C8C"/>
                </a:solidFill>
                <a:latin typeface="Calibri" pitchFamily="34" charset="0"/>
                <a:ea typeface="Calibri" pitchFamily="34" charset="-122"/>
                <a:cs typeface="Calibri" pitchFamily="34" charset="-120"/>
              </a:rPr>
              <a:t>[Your Names  |  Your Team  |  Date]</a:t>
            </a:r>
            <a:endParaRPr lang="en-US" sz="1400" dirty="0"/>
          </a:p>
        </p:txBody>
      </p:sp>
      <p:sp>
        <p:nvSpPr>
          <p:cNvPr id="8" name="Shape 5"/>
          <p:cNvSpPr/>
          <p:nvPr/>
        </p:nvSpPr>
        <p:spPr>
          <a:xfrm>
            <a:off x="0" y="4914900"/>
            <a:ext cx="9144000" cy="228600"/>
          </a:xfrm>
          <a:prstGeom prst="rect">
            <a:avLst/>
          </a:prstGeom>
          <a:solidFill>
            <a:srgbClr val="F7630C"/>
          </a:solidFill>
          <a:ln/>
        </p:spPr>
        <p:txBody>
          <a:bodyPr/>
          <a:lstStyle/>
          <a:p>
            <a:endParaRPr lang="en-IE"/>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0078D4"/>
          </a:solidFill>
          <a:ln/>
        </p:spPr>
        <p:txBody>
          <a:bodyPr/>
          <a:lstStyle/>
          <a:p>
            <a:endParaRPr lang="en-IE"/>
          </a:p>
        </p:txBody>
      </p:sp>
      <p:sp>
        <p:nvSpPr>
          <p:cNvPr id="3" name="Shape 1"/>
          <p:cNvSpPr/>
          <p:nvPr/>
        </p:nvSpPr>
        <p:spPr>
          <a:xfrm>
            <a:off x="0" y="0"/>
            <a:ext cx="45720" cy="5143500"/>
          </a:xfrm>
          <a:prstGeom prst="rect">
            <a:avLst/>
          </a:prstGeom>
          <a:solidFill>
            <a:srgbClr val="1A3356"/>
          </a:solidFill>
          <a:ln/>
        </p:spPr>
        <p:txBody>
          <a:bodyPr/>
          <a:lstStyle/>
          <a:p>
            <a:endParaRPr lang="en-IE"/>
          </a:p>
        </p:txBody>
      </p:sp>
      <p:pic>
        <p:nvPicPr>
          <p:cNvPr id="4" name="Image 0" descr="input/LOGO WITHOUT BACKGROUND (2).png"/>
          <p:cNvPicPr>
            <a:picLocks noChangeAspect="1"/>
          </p:cNvPicPr>
          <p:nvPr/>
        </p:nvPicPr>
        <p:blipFill>
          <a:blip r:embed="rId3"/>
          <a:srcRect/>
          <a:stretch/>
        </p:blipFill>
        <p:spPr>
          <a:xfrm>
            <a:off x="7863840" y="137160"/>
            <a:ext cx="1051560" cy="777240"/>
          </a:xfrm>
          <a:prstGeom prst="rect">
            <a:avLst/>
          </a:prstGeom>
        </p:spPr>
      </p:pic>
      <p:sp>
        <p:nvSpPr>
          <p:cNvPr id="5" name="Shape 2"/>
          <p:cNvSpPr/>
          <p:nvPr/>
        </p:nvSpPr>
        <p:spPr>
          <a:xfrm>
            <a:off x="457200" y="256032"/>
            <a:ext cx="475488" cy="475488"/>
          </a:xfrm>
          <a:prstGeom prst="ellipse">
            <a:avLst/>
          </a:prstGeom>
          <a:solidFill>
            <a:srgbClr val="F7630C"/>
          </a:solidFill>
          <a:ln/>
        </p:spPr>
        <p:txBody>
          <a:bodyPr/>
          <a:lstStyle/>
          <a:p>
            <a:endParaRPr lang="en-IE"/>
          </a:p>
        </p:txBody>
      </p:sp>
      <p:sp>
        <p:nvSpPr>
          <p:cNvPr id="6" name="Text 3"/>
          <p:cNvSpPr/>
          <p:nvPr/>
        </p:nvSpPr>
        <p:spPr>
          <a:xfrm>
            <a:off x="457200" y="256032"/>
            <a:ext cx="475488"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01</a:t>
            </a:r>
            <a:endParaRPr lang="en-US" sz="1600" dirty="0"/>
          </a:p>
        </p:txBody>
      </p:sp>
      <p:sp>
        <p:nvSpPr>
          <p:cNvPr id="7" name="Text 4"/>
          <p:cNvSpPr/>
          <p:nvPr/>
        </p:nvSpPr>
        <p:spPr>
          <a:xfrm>
            <a:off x="1097280" y="201168"/>
            <a:ext cx="6583680" cy="548640"/>
          </a:xfrm>
          <a:prstGeom prst="rect">
            <a:avLst/>
          </a:prstGeom>
          <a:noFill/>
          <a:ln/>
        </p:spPr>
        <p:txBody>
          <a:bodyPr wrap="square" lIns="0" tIns="0" rIns="0" bIns="0" rtlCol="0" anchor="ctr"/>
          <a:lstStyle/>
          <a:p>
            <a:pPr marL="0" indent="0">
              <a:buNone/>
            </a:pPr>
            <a:r>
              <a:rPr lang="en-US" sz="2400" b="1" dirty="0">
                <a:solidFill>
                  <a:srgbClr val="1A3356"/>
                </a:solidFill>
                <a:latin typeface="Trebuchet MS" pitchFamily="34" charset="0"/>
                <a:ea typeface="Trebuchet MS" pitchFamily="34" charset="-122"/>
                <a:cs typeface="Trebuchet MS" pitchFamily="34" charset="-120"/>
              </a:rPr>
              <a:t>Problem Statement</a:t>
            </a:r>
            <a:endParaRPr lang="en-US" sz="2400" dirty="0"/>
          </a:p>
        </p:txBody>
      </p:sp>
      <p:sp>
        <p:nvSpPr>
          <p:cNvPr id="8" name="Shape 5"/>
          <p:cNvSpPr/>
          <p:nvPr/>
        </p:nvSpPr>
        <p:spPr>
          <a:xfrm>
            <a:off x="457200" y="960120"/>
            <a:ext cx="8229600" cy="0"/>
          </a:xfrm>
          <a:prstGeom prst="line">
            <a:avLst/>
          </a:prstGeom>
          <a:noFill/>
          <a:ln w="12700">
            <a:solidFill>
              <a:srgbClr val="E0E0E0"/>
            </a:solidFill>
            <a:prstDash val="solid"/>
          </a:ln>
        </p:spPr>
        <p:txBody>
          <a:bodyPr/>
          <a:lstStyle/>
          <a:p>
            <a:endParaRPr lang="en-IE"/>
          </a:p>
        </p:txBody>
      </p:sp>
      <p:sp>
        <p:nvSpPr>
          <p:cNvPr id="9" name="Shape 6"/>
          <p:cNvSpPr/>
          <p:nvPr/>
        </p:nvSpPr>
        <p:spPr>
          <a:xfrm>
            <a:off x="457200" y="1143000"/>
            <a:ext cx="8229600" cy="3611880"/>
          </a:xfrm>
          <a:prstGeom prst="rect">
            <a:avLst/>
          </a:prstGeom>
          <a:solidFill>
            <a:srgbClr val="F7F7F8"/>
          </a:solidFill>
          <a:ln w="6350">
            <a:solidFill>
              <a:srgbClr val="EBEBEB"/>
            </a:solidFill>
            <a:prstDash val="solid"/>
          </a:ln>
        </p:spPr>
        <p:txBody>
          <a:bodyPr/>
          <a:lstStyle/>
          <a:p>
            <a:endParaRPr lang="en-IE"/>
          </a:p>
        </p:txBody>
      </p:sp>
      <p:sp>
        <p:nvSpPr>
          <p:cNvPr id="10" name="Text 7"/>
          <p:cNvSpPr/>
          <p:nvPr/>
        </p:nvSpPr>
        <p:spPr>
          <a:xfrm>
            <a:off x="640080" y="1280160"/>
            <a:ext cx="7863840" cy="3337560"/>
          </a:xfrm>
          <a:prstGeom prst="rect">
            <a:avLst/>
          </a:prstGeom>
          <a:noFill/>
          <a:ln/>
        </p:spPr>
        <p:txBody>
          <a:bodyPr wrap="square" rtlCol="0" anchor="t"/>
          <a:lstStyle/>
          <a:p>
            <a:pPr marL="0" indent="0">
              <a:buNone/>
            </a:pPr>
            <a:r>
              <a:rPr lang="en-US" sz="1200" i="1" dirty="0">
                <a:solidFill>
                  <a:srgbClr val="8C8C8C"/>
                </a:solidFill>
                <a:latin typeface="Calibri" pitchFamily="34" charset="0"/>
                <a:ea typeface="Calibri" pitchFamily="34" charset="-122"/>
                <a:cs typeface="Calibri" pitchFamily="34" charset="-120"/>
              </a:rPr>
              <a:t>Describe the problem or challenge your use case addresses. What was the business need or pain point? Who is affected and why does it matter? Add text, images, or diagrams as needed.</a:t>
            </a:r>
            <a:endParaRPr lang="en-US" sz="1200" dirty="0"/>
          </a:p>
        </p:txBody>
      </p:sp>
      <p:sp>
        <p:nvSpPr>
          <p:cNvPr id="11" name="Shape 8"/>
          <p:cNvSpPr/>
          <p:nvPr/>
        </p:nvSpPr>
        <p:spPr>
          <a:xfrm>
            <a:off x="0" y="5052060"/>
            <a:ext cx="9144000" cy="91440"/>
          </a:xfrm>
          <a:prstGeom prst="rect">
            <a:avLst/>
          </a:prstGeom>
          <a:solidFill>
            <a:srgbClr val="F7630C"/>
          </a:solidFill>
          <a:ln/>
        </p:spPr>
        <p:txBody>
          <a:bodyPr/>
          <a:lstStyle/>
          <a:p>
            <a:endParaRPr lang="en-IE"/>
          </a:p>
        </p:txBody>
      </p:sp>
      <p:sp>
        <p:nvSpPr>
          <p:cNvPr id="12" name="Text 9"/>
          <p:cNvSpPr/>
          <p:nvPr/>
        </p:nvSpPr>
        <p:spPr>
          <a:xfrm>
            <a:off x="7772400" y="4754880"/>
            <a:ext cx="914400" cy="274320"/>
          </a:xfrm>
          <a:prstGeom prst="rect">
            <a:avLst/>
          </a:prstGeom>
          <a:noFill/>
          <a:ln/>
        </p:spPr>
        <p:txBody>
          <a:bodyPr wrap="square" lIns="0" tIns="0" rIns="0" bIns="0" rtlCol="0" anchor="ctr"/>
          <a:lstStyle/>
          <a:p>
            <a:pPr marL="0" indent="0" algn="r">
              <a:buNone/>
            </a:pPr>
            <a:r>
              <a:rPr lang="en-US" sz="900" dirty="0">
                <a:solidFill>
                  <a:srgbClr val="8C8C8C"/>
                </a:solidFill>
                <a:latin typeface="Calibri" pitchFamily="34" charset="0"/>
                <a:ea typeface="Calibri" pitchFamily="34" charset="-122"/>
                <a:cs typeface="Calibri" pitchFamily="34" charset="-120"/>
              </a:rPr>
              <a:t>01 / 05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0078D4"/>
          </a:solidFill>
          <a:ln/>
        </p:spPr>
        <p:txBody>
          <a:bodyPr/>
          <a:lstStyle/>
          <a:p>
            <a:endParaRPr lang="en-IE"/>
          </a:p>
        </p:txBody>
      </p:sp>
      <p:sp>
        <p:nvSpPr>
          <p:cNvPr id="3" name="Shape 1"/>
          <p:cNvSpPr/>
          <p:nvPr/>
        </p:nvSpPr>
        <p:spPr>
          <a:xfrm>
            <a:off x="0" y="0"/>
            <a:ext cx="45720" cy="5143500"/>
          </a:xfrm>
          <a:prstGeom prst="rect">
            <a:avLst/>
          </a:prstGeom>
          <a:solidFill>
            <a:srgbClr val="1A3356"/>
          </a:solidFill>
          <a:ln/>
        </p:spPr>
        <p:txBody>
          <a:bodyPr/>
          <a:lstStyle/>
          <a:p>
            <a:endParaRPr lang="en-IE"/>
          </a:p>
        </p:txBody>
      </p:sp>
      <p:pic>
        <p:nvPicPr>
          <p:cNvPr id="4" name="Image 0" descr="input/LOGO WITHOUT BACKGROUND (2).png"/>
          <p:cNvPicPr>
            <a:picLocks noChangeAspect="1"/>
          </p:cNvPicPr>
          <p:nvPr/>
        </p:nvPicPr>
        <p:blipFill>
          <a:blip r:embed="rId3"/>
          <a:srcRect/>
          <a:stretch/>
        </p:blipFill>
        <p:spPr>
          <a:xfrm>
            <a:off x="7863840" y="137160"/>
            <a:ext cx="1051560" cy="777240"/>
          </a:xfrm>
          <a:prstGeom prst="rect">
            <a:avLst/>
          </a:prstGeom>
        </p:spPr>
      </p:pic>
      <p:sp>
        <p:nvSpPr>
          <p:cNvPr id="5" name="Shape 2"/>
          <p:cNvSpPr/>
          <p:nvPr/>
        </p:nvSpPr>
        <p:spPr>
          <a:xfrm>
            <a:off x="457200" y="256032"/>
            <a:ext cx="475488" cy="475488"/>
          </a:xfrm>
          <a:prstGeom prst="ellipse">
            <a:avLst/>
          </a:prstGeom>
          <a:solidFill>
            <a:srgbClr val="F7630C"/>
          </a:solidFill>
          <a:ln/>
        </p:spPr>
        <p:txBody>
          <a:bodyPr/>
          <a:lstStyle/>
          <a:p>
            <a:endParaRPr lang="en-IE"/>
          </a:p>
        </p:txBody>
      </p:sp>
      <p:sp>
        <p:nvSpPr>
          <p:cNvPr id="6" name="Text 3"/>
          <p:cNvSpPr/>
          <p:nvPr/>
        </p:nvSpPr>
        <p:spPr>
          <a:xfrm>
            <a:off x="457200" y="256032"/>
            <a:ext cx="475488"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02</a:t>
            </a:r>
            <a:endParaRPr lang="en-US" sz="1600" dirty="0"/>
          </a:p>
        </p:txBody>
      </p:sp>
      <p:sp>
        <p:nvSpPr>
          <p:cNvPr id="7" name="Text 4"/>
          <p:cNvSpPr/>
          <p:nvPr/>
        </p:nvSpPr>
        <p:spPr>
          <a:xfrm>
            <a:off x="1097280" y="201168"/>
            <a:ext cx="6583680" cy="548640"/>
          </a:xfrm>
          <a:prstGeom prst="rect">
            <a:avLst/>
          </a:prstGeom>
          <a:noFill/>
          <a:ln/>
        </p:spPr>
        <p:txBody>
          <a:bodyPr wrap="square" lIns="0" tIns="0" rIns="0" bIns="0" rtlCol="0" anchor="ctr"/>
          <a:lstStyle/>
          <a:p>
            <a:pPr marL="0" indent="0">
              <a:buNone/>
            </a:pPr>
            <a:r>
              <a:rPr lang="en-US" sz="2400" b="1" dirty="0">
                <a:solidFill>
                  <a:srgbClr val="1A3356"/>
                </a:solidFill>
                <a:latin typeface="Trebuchet MS" pitchFamily="34" charset="0"/>
                <a:ea typeface="Trebuchet MS" pitchFamily="34" charset="-122"/>
                <a:cs typeface="Trebuchet MS" pitchFamily="34" charset="-120"/>
              </a:rPr>
              <a:t>Our Solution</a:t>
            </a:r>
            <a:endParaRPr lang="en-US" sz="2400" dirty="0"/>
          </a:p>
        </p:txBody>
      </p:sp>
      <p:sp>
        <p:nvSpPr>
          <p:cNvPr id="8" name="Shape 5"/>
          <p:cNvSpPr/>
          <p:nvPr/>
        </p:nvSpPr>
        <p:spPr>
          <a:xfrm>
            <a:off x="457200" y="960120"/>
            <a:ext cx="8229600" cy="0"/>
          </a:xfrm>
          <a:prstGeom prst="line">
            <a:avLst/>
          </a:prstGeom>
          <a:noFill/>
          <a:ln w="12700">
            <a:solidFill>
              <a:srgbClr val="E0E0E0"/>
            </a:solidFill>
            <a:prstDash val="solid"/>
          </a:ln>
        </p:spPr>
        <p:txBody>
          <a:bodyPr/>
          <a:lstStyle/>
          <a:p>
            <a:endParaRPr lang="en-IE"/>
          </a:p>
        </p:txBody>
      </p:sp>
      <p:sp>
        <p:nvSpPr>
          <p:cNvPr id="9" name="Shape 6"/>
          <p:cNvSpPr/>
          <p:nvPr/>
        </p:nvSpPr>
        <p:spPr>
          <a:xfrm>
            <a:off x="457200" y="1143000"/>
            <a:ext cx="8229600" cy="3611880"/>
          </a:xfrm>
          <a:prstGeom prst="rect">
            <a:avLst/>
          </a:prstGeom>
          <a:solidFill>
            <a:srgbClr val="F7F7F8"/>
          </a:solidFill>
          <a:ln w="6350">
            <a:solidFill>
              <a:srgbClr val="EBEBEB"/>
            </a:solidFill>
            <a:prstDash val="solid"/>
          </a:ln>
        </p:spPr>
        <p:txBody>
          <a:bodyPr/>
          <a:lstStyle/>
          <a:p>
            <a:endParaRPr lang="en-IE"/>
          </a:p>
        </p:txBody>
      </p:sp>
      <p:sp>
        <p:nvSpPr>
          <p:cNvPr id="10" name="Text 7"/>
          <p:cNvSpPr/>
          <p:nvPr/>
        </p:nvSpPr>
        <p:spPr>
          <a:xfrm>
            <a:off x="640080" y="1280160"/>
            <a:ext cx="7863840" cy="3337560"/>
          </a:xfrm>
          <a:prstGeom prst="rect">
            <a:avLst/>
          </a:prstGeom>
          <a:noFill/>
          <a:ln/>
        </p:spPr>
        <p:txBody>
          <a:bodyPr wrap="square" rtlCol="0" anchor="t"/>
          <a:lstStyle/>
          <a:p>
            <a:pPr marL="0" indent="0">
              <a:buNone/>
            </a:pPr>
            <a:r>
              <a:rPr lang="en-US" sz="1200" i="1" dirty="0">
                <a:solidFill>
                  <a:srgbClr val="8C8C8C"/>
                </a:solidFill>
                <a:latin typeface="Calibri" pitchFamily="34" charset="0"/>
                <a:ea typeface="Calibri" pitchFamily="34" charset="-122"/>
                <a:cs typeface="Calibri" pitchFamily="34" charset="-120"/>
              </a:rPr>
              <a:t>Describe the solution you designed and implemented. What platform capabilities did you leverage? What are the key features and design decisions? Add text, images, or diagrams as needed.</a:t>
            </a:r>
            <a:endParaRPr lang="en-US" sz="1200" dirty="0"/>
          </a:p>
        </p:txBody>
      </p:sp>
      <p:sp>
        <p:nvSpPr>
          <p:cNvPr id="11" name="Shape 8"/>
          <p:cNvSpPr/>
          <p:nvPr/>
        </p:nvSpPr>
        <p:spPr>
          <a:xfrm>
            <a:off x="0" y="5052060"/>
            <a:ext cx="9144000" cy="91440"/>
          </a:xfrm>
          <a:prstGeom prst="rect">
            <a:avLst/>
          </a:prstGeom>
          <a:solidFill>
            <a:srgbClr val="F7630C"/>
          </a:solidFill>
          <a:ln/>
        </p:spPr>
        <p:txBody>
          <a:bodyPr/>
          <a:lstStyle/>
          <a:p>
            <a:endParaRPr lang="en-IE"/>
          </a:p>
        </p:txBody>
      </p:sp>
      <p:sp>
        <p:nvSpPr>
          <p:cNvPr id="12" name="Text 9"/>
          <p:cNvSpPr/>
          <p:nvPr/>
        </p:nvSpPr>
        <p:spPr>
          <a:xfrm>
            <a:off x="7772400" y="4754880"/>
            <a:ext cx="914400" cy="274320"/>
          </a:xfrm>
          <a:prstGeom prst="rect">
            <a:avLst/>
          </a:prstGeom>
          <a:noFill/>
          <a:ln/>
        </p:spPr>
        <p:txBody>
          <a:bodyPr wrap="square" lIns="0" tIns="0" rIns="0" bIns="0" rtlCol="0" anchor="ctr"/>
          <a:lstStyle/>
          <a:p>
            <a:pPr marL="0" indent="0" algn="r">
              <a:buNone/>
            </a:pPr>
            <a:r>
              <a:rPr lang="en-US" sz="900" dirty="0">
                <a:solidFill>
                  <a:srgbClr val="8C8C8C"/>
                </a:solidFill>
                <a:latin typeface="Calibri" pitchFamily="34" charset="0"/>
                <a:ea typeface="Calibri" pitchFamily="34" charset="-122"/>
                <a:cs typeface="Calibri" pitchFamily="34" charset="-120"/>
              </a:rPr>
              <a:t>02 / 05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0078D4"/>
          </a:solidFill>
          <a:ln/>
        </p:spPr>
        <p:txBody>
          <a:bodyPr/>
          <a:lstStyle/>
          <a:p>
            <a:endParaRPr lang="en-IE"/>
          </a:p>
        </p:txBody>
      </p:sp>
      <p:sp>
        <p:nvSpPr>
          <p:cNvPr id="3" name="Shape 1"/>
          <p:cNvSpPr/>
          <p:nvPr/>
        </p:nvSpPr>
        <p:spPr>
          <a:xfrm>
            <a:off x="0" y="0"/>
            <a:ext cx="45720" cy="5143500"/>
          </a:xfrm>
          <a:prstGeom prst="rect">
            <a:avLst/>
          </a:prstGeom>
          <a:solidFill>
            <a:srgbClr val="1A3356"/>
          </a:solidFill>
          <a:ln/>
        </p:spPr>
        <p:txBody>
          <a:bodyPr/>
          <a:lstStyle/>
          <a:p>
            <a:endParaRPr lang="en-IE"/>
          </a:p>
        </p:txBody>
      </p:sp>
      <p:pic>
        <p:nvPicPr>
          <p:cNvPr id="4" name="Image 0" descr="input/LOGO WITHOUT BACKGROUND (2).png"/>
          <p:cNvPicPr>
            <a:picLocks noChangeAspect="1"/>
          </p:cNvPicPr>
          <p:nvPr/>
        </p:nvPicPr>
        <p:blipFill>
          <a:blip r:embed="rId3"/>
          <a:srcRect/>
          <a:stretch/>
        </p:blipFill>
        <p:spPr>
          <a:xfrm>
            <a:off x="7863840" y="137160"/>
            <a:ext cx="1051560" cy="777240"/>
          </a:xfrm>
          <a:prstGeom prst="rect">
            <a:avLst/>
          </a:prstGeom>
        </p:spPr>
      </p:pic>
      <p:sp>
        <p:nvSpPr>
          <p:cNvPr id="5" name="Shape 2"/>
          <p:cNvSpPr/>
          <p:nvPr/>
        </p:nvSpPr>
        <p:spPr>
          <a:xfrm>
            <a:off x="457200" y="256032"/>
            <a:ext cx="475488" cy="475488"/>
          </a:xfrm>
          <a:prstGeom prst="ellipse">
            <a:avLst/>
          </a:prstGeom>
          <a:solidFill>
            <a:srgbClr val="F7630C"/>
          </a:solidFill>
          <a:ln/>
        </p:spPr>
        <p:txBody>
          <a:bodyPr/>
          <a:lstStyle/>
          <a:p>
            <a:endParaRPr lang="en-IE"/>
          </a:p>
        </p:txBody>
      </p:sp>
      <p:sp>
        <p:nvSpPr>
          <p:cNvPr id="6" name="Text 3"/>
          <p:cNvSpPr/>
          <p:nvPr/>
        </p:nvSpPr>
        <p:spPr>
          <a:xfrm>
            <a:off x="457200" y="256032"/>
            <a:ext cx="475488"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03</a:t>
            </a:r>
            <a:endParaRPr lang="en-US" sz="1600" dirty="0"/>
          </a:p>
        </p:txBody>
      </p:sp>
      <p:sp>
        <p:nvSpPr>
          <p:cNvPr id="7" name="Text 4"/>
          <p:cNvSpPr/>
          <p:nvPr/>
        </p:nvSpPr>
        <p:spPr>
          <a:xfrm>
            <a:off x="1097280" y="201168"/>
            <a:ext cx="6583680" cy="548640"/>
          </a:xfrm>
          <a:prstGeom prst="rect">
            <a:avLst/>
          </a:prstGeom>
          <a:noFill/>
          <a:ln/>
        </p:spPr>
        <p:txBody>
          <a:bodyPr wrap="square" lIns="0" tIns="0" rIns="0" bIns="0" rtlCol="0" anchor="ctr"/>
          <a:lstStyle/>
          <a:p>
            <a:pPr marL="0" indent="0">
              <a:buNone/>
            </a:pPr>
            <a:r>
              <a:rPr lang="en-US" sz="2400" b="1" dirty="0">
                <a:solidFill>
                  <a:srgbClr val="1A3356"/>
                </a:solidFill>
                <a:latin typeface="Trebuchet MS" pitchFamily="34" charset="0"/>
                <a:ea typeface="Trebuchet MS" pitchFamily="34" charset="-122"/>
                <a:cs typeface="Trebuchet MS" pitchFamily="34" charset="-120"/>
              </a:rPr>
              <a:t>The Configuration</a:t>
            </a:r>
            <a:endParaRPr lang="en-US" sz="2400" dirty="0"/>
          </a:p>
        </p:txBody>
      </p:sp>
      <p:sp>
        <p:nvSpPr>
          <p:cNvPr id="8" name="Shape 5"/>
          <p:cNvSpPr/>
          <p:nvPr/>
        </p:nvSpPr>
        <p:spPr>
          <a:xfrm>
            <a:off x="457200" y="960120"/>
            <a:ext cx="8229600" cy="0"/>
          </a:xfrm>
          <a:prstGeom prst="line">
            <a:avLst/>
          </a:prstGeom>
          <a:noFill/>
          <a:ln w="12700">
            <a:solidFill>
              <a:srgbClr val="E0E0E0"/>
            </a:solidFill>
            <a:prstDash val="solid"/>
          </a:ln>
        </p:spPr>
        <p:txBody>
          <a:bodyPr/>
          <a:lstStyle/>
          <a:p>
            <a:endParaRPr lang="en-IE"/>
          </a:p>
        </p:txBody>
      </p:sp>
      <p:sp>
        <p:nvSpPr>
          <p:cNvPr id="9" name="Shape 6"/>
          <p:cNvSpPr/>
          <p:nvPr/>
        </p:nvSpPr>
        <p:spPr>
          <a:xfrm>
            <a:off x="457200" y="1143000"/>
            <a:ext cx="8229600" cy="3611880"/>
          </a:xfrm>
          <a:prstGeom prst="rect">
            <a:avLst/>
          </a:prstGeom>
          <a:solidFill>
            <a:srgbClr val="F7F7F8"/>
          </a:solidFill>
          <a:ln w="6350">
            <a:solidFill>
              <a:srgbClr val="EBEBEB"/>
            </a:solidFill>
            <a:prstDash val="solid"/>
          </a:ln>
        </p:spPr>
        <p:txBody>
          <a:bodyPr/>
          <a:lstStyle/>
          <a:p>
            <a:endParaRPr lang="en-IE"/>
          </a:p>
        </p:txBody>
      </p:sp>
      <p:sp>
        <p:nvSpPr>
          <p:cNvPr id="10" name="Text 7"/>
          <p:cNvSpPr/>
          <p:nvPr/>
        </p:nvSpPr>
        <p:spPr>
          <a:xfrm>
            <a:off x="640080" y="1280160"/>
            <a:ext cx="7863840" cy="3337560"/>
          </a:xfrm>
          <a:prstGeom prst="rect">
            <a:avLst/>
          </a:prstGeom>
          <a:noFill/>
          <a:ln/>
        </p:spPr>
        <p:txBody>
          <a:bodyPr wrap="square" rtlCol="0" anchor="t"/>
          <a:lstStyle/>
          <a:p>
            <a:pPr marL="0" indent="0">
              <a:buNone/>
            </a:pPr>
            <a:r>
              <a:rPr lang="en-US" sz="1200" i="1" dirty="0">
                <a:solidFill>
                  <a:srgbClr val="8C8C8C"/>
                </a:solidFill>
                <a:latin typeface="Calibri" pitchFamily="34" charset="0"/>
                <a:ea typeface="Calibri" pitchFamily="34" charset="-122"/>
                <a:cs typeface="Calibri" pitchFamily="34" charset="-120"/>
              </a:rPr>
              <a:t>Detail the technical configuration, architecture, or setup of your solution. Include platform settings, integrations, tools, and workflows. Add text, screenshots, or diagrams as needed.</a:t>
            </a:r>
            <a:endParaRPr lang="en-US" sz="1200" dirty="0"/>
          </a:p>
        </p:txBody>
      </p:sp>
      <p:sp>
        <p:nvSpPr>
          <p:cNvPr id="11" name="Shape 8"/>
          <p:cNvSpPr/>
          <p:nvPr/>
        </p:nvSpPr>
        <p:spPr>
          <a:xfrm>
            <a:off x="0" y="5052060"/>
            <a:ext cx="9144000" cy="91440"/>
          </a:xfrm>
          <a:prstGeom prst="rect">
            <a:avLst/>
          </a:prstGeom>
          <a:solidFill>
            <a:srgbClr val="F7630C"/>
          </a:solidFill>
          <a:ln/>
        </p:spPr>
        <p:txBody>
          <a:bodyPr/>
          <a:lstStyle/>
          <a:p>
            <a:endParaRPr lang="en-IE"/>
          </a:p>
        </p:txBody>
      </p:sp>
      <p:sp>
        <p:nvSpPr>
          <p:cNvPr id="12" name="Text 9"/>
          <p:cNvSpPr/>
          <p:nvPr/>
        </p:nvSpPr>
        <p:spPr>
          <a:xfrm>
            <a:off x="7772400" y="4754880"/>
            <a:ext cx="914400" cy="274320"/>
          </a:xfrm>
          <a:prstGeom prst="rect">
            <a:avLst/>
          </a:prstGeom>
          <a:noFill/>
          <a:ln/>
        </p:spPr>
        <p:txBody>
          <a:bodyPr wrap="square" lIns="0" tIns="0" rIns="0" bIns="0" rtlCol="0" anchor="ctr"/>
          <a:lstStyle/>
          <a:p>
            <a:pPr marL="0" indent="0" algn="r">
              <a:buNone/>
            </a:pPr>
            <a:r>
              <a:rPr lang="en-US" sz="900" dirty="0">
                <a:solidFill>
                  <a:srgbClr val="8C8C8C"/>
                </a:solidFill>
                <a:latin typeface="Calibri" pitchFamily="34" charset="0"/>
                <a:ea typeface="Calibri" pitchFamily="34" charset="-122"/>
                <a:cs typeface="Calibri" pitchFamily="34" charset="-120"/>
              </a:rPr>
              <a:t>03 / 05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0078D4"/>
          </a:solidFill>
          <a:ln/>
        </p:spPr>
        <p:txBody>
          <a:bodyPr/>
          <a:lstStyle/>
          <a:p>
            <a:endParaRPr lang="en-IE"/>
          </a:p>
        </p:txBody>
      </p:sp>
      <p:sp>
        <p:nvSpPr>
          <p:cNvPr id="3" name="Shape 1"/>
          <p:cNvSpPr/>
          <p:nvPr/>
        </p:nvSpPr>
        <p:spPr>
          <a:xfrm>
            <a:off x="0" y="0"/>
            <a:ext cx="45720" cy="5143500"/>
          </a:xfrm>
          <a:prstGeom prst="rect">
            <a:avLst/>
          </a:prstGeom>
          <a:solidFill>
            <a:srgbClr val="1A3356"/>
          </a:solidFill>
          <a:ln/>
        </p:spPr>
        <p:txBody>
          <a:bodyPr/>
          <a:lstStyle/>
          <a:p>
            <a:endParaRPr lang="en-IE"/>
          </a:p>
        </p:txBody>
      </p:sp>
      <p:pic>
        <p:nvPicPr>
          <p:cNvPr id="4" name="Image 0" descr="input/LOGO WITHOUT BACKGROUND (2).png"/>
          <p:cNvPicPr>
            <a:picLocks noChangeAspect="1"/>
          </p:cNvPicPr>
          <p:nvPr/>
        </p:nvPicPr>
        <p:blipFill>
          <a:blip r:embed="rId3"/>
          <a:srcRect/>
          <a:stretch/>
        </p:blipFill>
        <p:spPr>
          <a:xfrm>
            <a:off x="7863840" y="137160"/>
            <a:ext cx="1051560" cy="777240"/>
          </a:xfrm>
          <a:prstGeom prst="rect">
            <a:avLst/>
          </a:prstGeom>
        </p:spPr>
      </p:pic>
      <p:sp>
        <p:nvSpPr>
          <p:cNvPr id="5" name="Shape 2"/>
          <p:cNvSpPr/>
          <p:nvPr/>
        </p:nvSpPr>
        <p:spPr>
          <a:xfrm>
            <a:off x="457200" y="256032"/>
            <a:ext cx="475488" cy="475488"/>
          </a:xfrm>
          <a:prstGeom prst="ellipse">
            <a:avLst/>
          </a:prstGeom>
          <a:solidFill>
            <a:srgbClr val="F7630C"/>
          </a:solidFill>
          <a:ln/>
        </p:spPr>
        <p:txBody>
          <a:bodyPr/>
          <a:lstStyle/>
          <a:p>
            <a:endParaRPr lang="en-IE"/>
          </a:p>
        </p:txBody>
      </p:sp>
      <p:sp>
        <p:nvSpPr>
          <p:cNvPr id="6" name="Text 3"/>
          <p:cNvSpPr/>
          <p:nvPr/>
        </p:nvSpPr>
        <p:spPr>
          <a:xfrm>
            <a:off x="457200" y="256032"/>
            <a:ext cx="475488"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04</a:t>
            </a:r>
            <a:endParaRPr lang="en-US" sz="1600" dirty="0"/>
          </a:p>
        </p:txBody>
      </p:sp>
      <p:sp>
        <p:nvSpPr>
          <p:cNvPr id="7" name="Text 4"/>
          <p:cNvSpPr/>
          <p:nvPr/>
        </p:nvSpPr>
        <p:spPr>
          <a:xfrm>
            <a:off x="1097280" y="201168"/>
            <a:ext cx="6583680" cy="548640"/>
          </a:xfrm>
          <a:prstGeom prst="rect">
            <a:avLst/>
          </a:prstGeom>
          <a:noFill/>
          <a:ln/>
        </p:spPr>
        <p:txBody>
          <a:bodyPr wrap="square" lIns="0" tIns="0" rIns="0" bIns="0" rtlCol="0" anchor="ctr"/>
          <a:lstStyle/>
          <a:p>
            <a:pPr marL="0" indent="0">
              <a:buNone/>
            </a:pPr>
            <a:r>
              <a:rPr lang="en-US" sz="2400" b="1" dirty="0">
                <a:solidFill>
                  <a:srgbClr val="1A3356"/>
                </a:solidFill>
                <a:latin typeface="Trebuchet MS" pitchFamily="34" charset="0"/>
                <a:ea typeface="Trebuchet MS" pitchFamily="34" charset="-122"/>
                <a:cs typeface="Trebuchet MS" pitchFamily="34" charset="-120"/>
              </a:rPr>
              <a:t>The Result</a:t>
            </a:r>
            <a:endParaRPr lang="en-US" sz="2400" dirty="0"/>
          </a:p>
        </p:txBody>
      </p:sp>
      <p:sp>
        <p:nvSpPr>
          <p:cNvPr id="8" name="Shape 5"/>
          <p:cNvSpPr/>
          <p:nvPr/>
        </p:nvSpPr>
        <p:spPr>
          <a:xfrm>
            <a:off x="457200" y="960120"/>
            <a:ext cx="8229600" cy="0"/>
          </a:xfrm>
          <a:prstGeom prst="line">
            <a:avLst/>
          </a:prstGeom>
          <a:noFill/>
          <a:ln w="12700">
            <a:solidFill>
              <a:srgbClr val="E0E0E0"/>
            </a:solidFill>
            <a:prstDash val="solid"/>
          </a:ln>
        </p:spPr>
        <p:txBody>
          <a:bodyPr/>
          <a:lstStyle/>
          <a:p>
            <a:endParaRPr lang="en-IE"/>
          </a:p>
        </p:txBody>
      </p:sp>
      <p:sp>
        <p:nvSpPr>
          <p:cNvPr id="9" name="Shape 6"/>
          <p:cNvSpPr/>
          <p:nvPr/>
        </p:nvSpPr>
        <p:spPr>
          <a:xfrm>
            <a:off x="457200" y="1143000"/>
            <a:ext cx="8229600" cy="3611880"/>
          </a:xfrm>
          <a:prstGeom prst="rect">
            <a:avLst/>
          </a:prstGeom>
          <a:solidFill>
            <a:srgbClr val="F7F7F8"/>
          </a:solidFill>
          <a:ln w="6350">
            <a:solidFill>
              <a:srgbClr val="EBEBEB"/>
            </a:solidFill>
            <a:prstDash val="solid"/>
          </a:ln>
        </p:spPr>
        <p:txBody>
          <a:bodyPr/>
          <a:lstStyle/>
          <a:p>
            <a:endParaRPr lang="en-IE"/>
          </a:p>
        </p:txBody>
      </p:sp>
      <p:sp>
        <p:nvSpPr>
          <p:cNvPr id="10" name="Text 7"/>
          <p:cNvSpPr/>
          <p:nvPr/>
        </p:nvSpPr>
        <p:spPr>
          <a:xfrm>
            <a:off x="640080" y="1280160"/>
            <a:ext cx="7863840" cy="3337560"/>
          </a:xfrm>
          <a:prstGeom prst="rect">
            <a:avLst/>
          </a:prstGeom>
          <a:noFill/>
          <a:ln/>
        </p:spPr>
        <p:txBody>
          <a:bodyPr wrap="square" rtlCol="0" anchor="t"/>
          <a:lstStyle/>
          <a:p>
            <a:pPr marL="0" indent="0">
              <a:buNone/>
            </a:pPr>
            <a:r>
              <a:rPr lang="en-US" sz="1200" i="1" dirty="0">
                <a:solidFill>
                  <a:srgbClr val="8C8C8C"/>
                </a:solidFill>
                <a:latin typeface="Calibri" pitchFamily="34" charset="0"/>
                <a:ea typeface="Calibri" pitchFamily="34" charset="-122"/>
                <a:cs typeface="Calibri" pitchFamily="34" charset="-120"/>
              </a:rPr>
              <a:t>Share the measurable results and business impact of your solution. Include metrics, before/after comparisons, KPIs, or user feedback. Add text, charts, or images as needed.</a:t>
            </a:r>
            <a:endParaRPr lang="en-US" sz="1200" dirty="0"/>
          </a:p>
        </p:txBody>
      </p:sp>
      <p:sp>
        <p:nvSpPr>
          <p:cNvPr id="11" name="Shape 8"/>
          <p:cNvSpPr/>
          <p:nvPr/>
        </p:nvSpPr>
        <p:spPr>
          <a:xfrm>
            <a:off x="0" y="5052060"/>
            <a:ext cx="9144000" cy="91440"/>
          </a:xfrm>
          <a:prstGeom prst="rect">
            <a:avLst/>
          </a:prstGeom>
          <a:solidFill>
            <a:srgbClr val="F7630C"/>
          </a:solidFill>
          <a:ln/>
        </p:spPr>
        <p:txBody>
          <a:bodyPr/>
          <a:lstStyle/>
          <a:p>
            <a:endParaRPr lang="en-IE"/>
          </a:p>
        </p:txBody>
      </p:sp>
      <p:sp>
        <p:nvSpPr>
          <p:cNvPr id="12" name="Text 9"/>
          <p:cNvSpPr/>
          <p:nvPr/>
        </p:nvSpPr>
        <p:spPr>
          <a:xfrm>
            <a:off x="7772400" y="4754880"/>
            <a:ext cx="914400" cy="274320"/>
          </a:xfrm>
          <a:prstGeom prst="rect">
            <a:avLst/>
          </a:prstGeom>
          <a:noFill/>
          <a:ln/>
        </p:spPr>
        <p:txBody>
          <a:bodyPr wrap="square" lIns="0" tIns="0" rIns="0" bIns="0" rtlCol="0" anchor="ctr"/>
          <a:lstStyle/>
          <a:p>
            <a:pPr marL="0" indent="0" algn="r">
              <a:buNone/>
            </a:pPr>
            <a:r>
              <a:rPr lang="en-US" sz="900" dirty="0">
                <a:solidFill>
                  <a:srgbClr val="8C8C8C"/>
                </a:solidFill>
                <a:latin typeface="Calibri" pitchFamily="34" charset="0"/>
                <a:ea typeface="Calibri" pitchFamily="34" charset="-122"/>
                <a:cs typeface="Calibri" pitchFamily="34" charset="-120"/>
              </a:rPr>
              <a:t>04 / 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0078D4"/>
          </a:solidFill>
          <a:ln/>
        </p:spPr>
        <p:txBody>
          <a:bodyPr/>
          <a:lstStyle/>
          <a:p>
            <a:endParaRPr lang="en-IE"/>
          </a:p>
        </p:txBody>
      </p:sp>
      <p:sp>
        <p:nvSpPr>
          <p:cNvPr id="3" name="Shape 1"/>
          <p:cNvSpPr/>
          <p:nvPr/>
        </p:nvSpPr>
        <p:spPr>
          <a:xfrm>
            <a:off x="0" y="0"/>
            <a:ext cx="45720" cy="5143500"/>
          </a:xfrm>
          <a:prstGeom prst="rect">
            <a:avLst/>
          </a:prstGeom>
          <a:solidFill>
            <a:srgbClr val="1A3356"/>
          </a:solidFill>
          <a:ln/>
        </p:spPr>
        <p:txBody>
          <a:bodyPr/>
          <a:lstStyle/>
          <a:p>
            <a:endParaRPr lang="en-IE"/>
          </a:p>
        </p:txBody>
      </p:sp>
      <p:pic>
        <p:nvPicPr>
          <p:cNvPr id="4" name="Image 0" descr="input/LOGO WITHOUT BACKGROUND (2).png"/>
          <p:cNvPicPr>
            <a:picLocks noChangeAspect="1"/>
          </p:cNvPicPr>
          <p:nvPr/>
        </p:nvPicPr>
        <p:blipFill>
          <a:blip r:embed="rId3"/>
          <a:srcRect/>
          <a:stretch/>
        </p:blipFill>
        <p:spPr>
          <a:xfrm>
            <a:off x="7863840" y="137160"/>
            <a:ext cx="1051560" cy="777240"/>
          </a:xfrm>
          <a:prstGeom prst="rect">
            <a:avLst/>
          </a:prstGeom>
        </p:spPr>
      </p:pic>
      <p:sp>
        <p:nvSpPr>
          <p:cNvPr id="5" name="Shape 2"/>
          <p:cNvSpPr/>
          <p:nvPr/>
        </p:nvSpPr>
        <p:spPr>
          <a:xfrm>
            <a:off x="457200" y="256032"/>
            <a:ext cx="475488" cy="475488"/>
          </a:xfrm>
          <a:prstGeom prst="ellipse">
            <a:avLst/>
          </a:prstGeom>
          <a:solidFill>
            <a:srgbClr val="F7630C"/>
          </a:solidFill>
          <a:ln/>
        </p:spPr>
        <p:txBody>
          <a:bodyPr/>
          <a:lstStyle/>
          <a:p>
            <a:endParaRPr lang="en-IE"/>
          </a:p>
        </p:txBody>
      </p:sp>
      <p:sp>
        <p:nvSpPr>
          <p:cNvPr id="6" name="Text 3"/>
          <p:cNvSpPr/>
          <p:nvPr/>
        </p:nvSpPr>
        <p:spPr>
          <a:xfrm>
            <a:off x="457200" y="256032"/>
            <a:ext cx="475488"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05</a:t>
            </a:r>
            <a:endParaRPr lang="en-US" sz="1600" dirty="0"/>
          </a:p>
        </p:txBody>
      </p:sp>
      <p:sp>
        <p:nvSpPr>
          <p:cNvPr id="7" name="Text 4"/>
          <p:cNvSpPr/>
          <p:nvPr/>
        </p:nvSpPr>
        <p:spPr>
          <a:xfrm>
            <a:off x="1097280" y="201168"/>
            <a:ext cx="6583680" cy="548640"/>
          </a:xfrm>
          <a:prstGeom prst="rect">
            <a:avLst/>
          </a:prstGeom>
          <a:noFill/>
          <a:ln/>
        </p:spPr>
        <p:txBody>
          <a:bodyPr wrap="square" lIns="0" tIns="0" rIns="0" bIns="0" rtlCol="0" anchor="ctr"/>
          <a:lstStyle/>
          <a:p>
            <a:pPr marL="0" indent="0">
              <a:buNone/>
            </a:pPr>
            <a:r>
              <a:rPr lang="en-US" sz="2400" b="1" dirty="0">
                <a:solidFill>
                  <a:srgbClr val="1A3356"/>
                </a:solidFill>
                <a:latin typeface="Trebuchet MS" pitchFamily="34" charset="0"/>
                <a:ea typeface="Trebuchet MS" pitchFamily="34" charset="-122"/>
                <a:cs typeface="Trebuchet MS" pitchFamily="34" charset="-120"/>
              </a:rPr>
              <a:t>Lessons Learnt &amp; Improvement Actions</a:t>
            </a:r>
            <a:endParaRPr lang="en-US" sz="2400" dirty="0"/>
          </a:p>
        </p:txBody>
      </p:sp>
      <p:sp>
        <p:nvSpPr>
          <p:cNvPr id="8" name="Shape 5"/>
          <p:cNvSpPr/>
          <p:nvPr/>
        </p:nvSpPr>
        <p:spPr>
          <a:xfrm>
            <a:off x="457200" y="960120"/>
            <a:ext cx="8229600" cy="0"/>
          </a:xfrm>
          <a:prstGeom prst="line">
            <a:avLst/>
          </a:prstGeom>
          <a:noFill/>
          <a:ln w="12700">
            <a:solidFill>
              <a:srgbClr val="E0E0E0"/>
            </a:solidFill>
            <a:prstDash val="solid"/>
          </a:ln>
        </p:spPr>
        <p:txBody>
          <a:bodyPr/>
          <a:lstStyle/>
          <a:p>
            <a:endParaRPr lang="en-IE"/>
          </a:p>
        </p:txBody>
      </p:sp>
      <p:sp>
        <p:nvSpPr>
          <p:cNvPr id="9" name="Shape 6"/>
          <p:cNvSpPr/>
          <p:nvPr/>
        </p:nvSpPr>
        <p:spPr>
          <a:xfrm>
            <a:off x="457200" y="1143000"/>
            <a:ext cx="8229600" cy="3611880"/>
          </a:xfrm>
          <a:prstGeom prst="rect">
            <a:avLst/>
          </a:prstGeom>
          <a:solidFill>
            <a:srgbClr val="F7F7F8"/>
          </a:solidFill>
          <a:ln w="6350">
            <a:solidFill>
              <a:srgbClr val="EBEBEB"/>
            </a:solidFill>
            <a:prstDash val="solid"/>
          </a:ln>
        </p:spPr>
        <p:txBody>
          <a:bodyPr/>
          <a:lstStyle/>
          <a:p>
            <a:endParaRPr lang="en-IE"/>
          </a:p>
        </p:txBody>
      </p:sp>
      <p:sp>
        <p:nvSpPr>
          <p:cNvPr id="10" name="Text 7"/>
          <p:cNvSpPr/>
          <p:nvPr/>
        </p:nvSpPr>
        <p:spPr>
          <a:xfrm>
            <a:off x="640080" y="1280160"/>
            <a:ext cx="7863840" cy="3337560"/>
          </a:xfrm>
          <a:prstGeom prst="rect">
            <a:avLst/>
          </a:prstGeom>
          <a:noFill/>
          <a:ln/>
        </p:spPr>
        <p:txBody>
          <a:bodyPr wrap="square" rtlCol="0" anchor="t"/>
          <a:lstStyle/>
          <a:p>
            <a:pPr marL="0" indent="0">
              <a:buNone/>
            </a:pPr>
            <a:r>
              <a:rPr lang="en-US" sz="1200" i="1" dirty="0">
                <a:solidFill>
                  <a:srgbClr val="8C8C8C"/>
                </a:solidFill>
                <a:latin typeface="Calibri" pitchFamily="34" charset="0"/>
                <a:ea typeface="Calibri" pitchFamily="34" charset="-122"/>
                <a:cs typeface="Calibri" pitchFamily="34" charset="-120"/>
              </a:rPr>
              <a:t>Reflect on key lessons, what worked well, and what you would do differently. Outline planned improvements and next steps. Add text, images, or diagrams as needed.</a:t>
            </a:r>
            <a:endParaRPr lang="en-US" sz="1200" dirty="0"/>
          </a:p>
        </p:txBody>
      </p:sp>
      <p:sp>
        <p:nvSpPr>
          <p:cNvPr id="11" name="Shape 8"/>
          <p:cNvSpPr/>
          <p:nvPr/>
        </p:nvSpPr>
        <p:spPr>
          <a:xfrm>
            <a:off x="0" y="5052060"/>
            <a:ext cx="9144000" cy="91440"/>
          </a:xfrm>
          <a:prstGeom prst="rect">
            <a:avLst/>
          </a:prstGeom>
          <a:solidFill>
            <a:srgbClr val="F7630C"/>
          </a:solidFill>
          <a:ln/>
        </p:spPr>
        <p:txBody>
          <a:bodyPr/>
          <a:lstStyle/>
          <a:p>
            <a:endParaRPr lang="en-IE"/>
          </a:p>
        </p:txBody>
      </p:sp>
      <p:sp>
        <p:nvSpPr>
          <p:cNvPr id="12" name="Text 9"/>
          <p:cNvSpPr/>
          <p:nvPr/>
        </p:nvSpPr>
        <p:spPr>
          <a:xfrm>
            <a:off x="7772400" y="4754880"/>
            <a:ext cx="914400" cy="274320"/>
          </a:xfrm>
          <a:prstGeom prst="rect">
            <a:avLst/>
          </a:prstGeom>
          <a:noFill/>
          <a:ln/>
        </p:spPr>
        <p:txBody>
          <a:bodyPr wrap="square" lIns="0" tIns="0" rIns="0" bIns="0" rtlCol="0" anchor="ctr"/>
          <a:lstStyle/>
          <a:p>
            <a:pPr marL="0" indent="0" algn="r">
              <a:buNone/>
            </a:pPr>
            <a:r>
              <a:rPr lang="en-US" sz="900" dirty="0">
                <a:solidFill>
                  <a:srgbClr val="8C8C8C"/>
                </a:solidFill>
                <a:latin typeface="Calibri" pitchFamily="34" charset="0"/>
                <a:ea typeface="Calibri" pitchFamily="34" charset="-122"/>
                <a:cs typeface="Calibri" pitchFamily="34" charset="-120"/>
              </a:rPr>
              <a:t>05 / 05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87867195-f2b8-4ac2-b0b6-6bb73cb33afc}" enabled="1" method="Privileged" siteId="{72f988bf-86f1-41af-91ab-2d7cd011db47}" removed="0"/>
  <clbl:label id="{a4e73e24-21b1-4f9e-b03f-5bf255d7c332}" enabled="1" method="Standard" siteId="{8da17dc5-99b9-46fe-a496-9b602fc2d071}" removed="0"/>
</clbl:labelList>
</file>

<file path=docProps/app.xml><?xml version="1.0" encoding="utf-8"?>
<Properties xmlns="http://schemas.openxmlformats.org/officeDocument/2006/extended-properties" xmlns:vt="http://schemas.openxmlformats.org/officeDocument/2006/docPropsVTypes">
  <TotalTime>3</TotalTime>
  <Words>225</Words>
  <Application>Microsoft Office PowerPoint</Application>
  <PresentationFormat>On-screen Show (16:9)</PresentationFormat>
  <Paragraphs>28</Paragraphs>
  <Slides>6</Slides>
  <Notes>6</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Use Case Presentation Template</dc:title>
  <dc:subject>PptxGenJS Presentation</dc:subject>
  <dc:creator>Platform Explorers</dc:creator>
  <cp:lastModifiedBy>Juan Idowu</cp:lastModifiedBy>
  <cp:revision>4</cp:revision>
  <dcterms:created xsi:type="dcterms:W3CDTF">2026-05-23T11:17:06Z</dcterms:created>
  <dcterms:modified xsi:type="dcterms:W3CDTF">2026-05-23T12:48:13Z</dcterms:modified>
</cp:coreProperties>
</file>